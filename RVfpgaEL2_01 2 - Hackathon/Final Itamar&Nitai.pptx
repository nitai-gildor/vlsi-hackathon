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5903"/>
  </p:normalViewPr>
  <p:slideViewPr>
    <p:cSldViewPr snapToGrid="0" snapToObjects="1">
      <p:cViewPr varScale="1">
        <p:scale>
          <a:sx n="70" d="100"/>
          <a:sy n="70" d="100"/>
        </p:scale>
        <p:origin x="4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D991-702D-D843-BE3B-374BDBFB2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FCB96-2EFB-A24B-8E2F-E2CB8820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2BE6-DA14-7445-9940-8F0AD35C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7108-31EA-034D-AAA9-4A23935A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DB22C-0549-F14C-9451-4C11F9FE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891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1D8D-D658-484D-B75A-3478397C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ED44-9F09-8E45-BE58-A45FFE07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C368-D486-054D-A1E0-CFBFE1D0D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2F4C-0D4A-4941-9331-897704C8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DF323-1A1D-1545-B5F1-025EE3EF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033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5247-7732-0643-8278-D5FA07D1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3D9EB-A6E1-FE4F-8D31-8E3B8AE0F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A0C1-D080-A142-A9F5-6E49DEE1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B3438-378F-844F-82CC-5268F7DA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9DCDF-A23C-954C-9667-A4A6A8D3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595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E7F8-0DE1-AB48-B106-A7A85527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864F-1B61-4941-AA3C-A6481A6E7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BD979-2FAE-C240-A806-614B49844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8A15C-FF65-8C44-B861-F921FDCF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2D7F7-ADEA-584E-8976-1732DB36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F9C4F-9011-104B-8F55-72C4DB35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967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57F1-334C-094E-AA70-6B976672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E64AB-FCA5-964F-B043-7FBDE3EC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33A35-64B0-5043-BC03-945E97F17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5BEC8-D28C-D047-92AD-2C33DBAC2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9677A-33FB-374F-9036-50904E31E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AE378-9FCE-1B4A-8086-39C637AC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B781D-D27A-3340-BB04-A462A4FE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04D12-21BF-DF4B-A8D2-6205CB43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956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FFC5-3851-D54E-890F-3FB5D930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E94EB-9C9C-7F47-A88F-F1994B3A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E26AC-9CAF-BB43-8807-305B6B0E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7AA44-2276-3D45-A5E9-165DBC6C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565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C9B0A-09B4-EE4B-AE2A-93B7977C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3D834-9608-F142-99E5-784E8BDA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6016E-1609-0D4E-85C4-2CCAB04B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082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F585-5765-314C-AEFA-3C1F4FE1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B1FA-D20C-4248-B8AD-826522FE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6D152-5BF9-F149-8FA9-DF00076D4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0AC5D-5FC9-BC42-A0A7-EEB28F95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070AA-43CD-1D47-A426-89A9378A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890DA-7E92-FF43-82D8-A4A08209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535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4C95-F841-2E47-9B13-AC4F199F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F44F6-74F2-284C-8B9B-06E9E9702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40B42-621D-F446-800B-955D4F223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6C7F4-52DA-4E42-9DFA-28EF02FB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91CFA-B49E-EA40-AAF2-4DA8023A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1521D-C183-1640-A7D2-A1AE331B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325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2A66-1A3A-7E41-BE40-1B13807A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7E2D7-BD01-164C-AE54-7C2C5F0EC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6F0E3-3B27-A94C-BB88-EC619808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FC4C9-F9DC-A842-967F-1ED48B85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E0C0-89D3-5C49-B069-0E2E4B5C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475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31EBE-B1C5-904E-8613-8DDE103CF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D265D-17E4-0F41-9988-2F140C216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FBF03-4CBA-E845-8E9C-9493972A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5D575-C4F1-AD43-9DF6-0A6C42AD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F9F96-8B81-7941-B2E9-AA6355E2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376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624C2-7EC5-8640-A305-632CDEC7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A1769-58B8-2F45-9D61-E6C6A0EF4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B557-B5A0-EC44-8118-CFC806470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219E6-8611-B047-871E-31CE408773E5}" type="datetimeFigureOut">
              <a:rPr lang="en-IL" smtClean="0"/>
              <a:t>06/21/2026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05F1-93B5-8B4D-9F7C-E995E3C48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F3750-5DF0-284E-8F5D-58697518F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31F71-1640-5F40-B55E-A8EF8DFA734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741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file:////Users/freddygabbay/Library/Group%20Containers/UBF8T346G9.ms/WebArchiveCopyPasteTempFiles/com.microsoft.Word/eng_logo_300x100.jpg%3fm=157596276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freddygabbay/Library/Group%20Containers/UBF8T346G9.ms/WebArchiveCopyPasteTempFiles/com.microsoft.Word/eng_logo_300x100.jpg%3fm=157596276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file:////Users/freddygabbay/Library/Group%20Containers/UBF8T346G9.ms/WebArchiveCopyPasteTempFiles/com.microsoft.Word/eng_logo_300x100.jpg%3fm=157596276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file:////Users/freddygabbay/Library/Group%20Containers/UBF8T346G9.ms/WebArchiveCopyPasteTempFiles/com.microsoft.Word/eng_logo_300x100.jpg%3fm=157596276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freddygabbay/Library/Group%20Containers/UBF8T346G9.ms/WebArchiveCopyPasteTempFiles/com.microsoft.Word/eng_logo_300x100.jpg%3fm=157596276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file:////Users/freddygabbay/Library/Group%20Containers/UBF8T346G9.ms/WebArchiveCopyPasteTempFiles/com.microsoft.Word/eng_logo_300x100.jpg%3fm=157596276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16DC1-BD04-EF42-9FED-3F0302BAB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Final Presentation</a:t>
            </a:r>
            <a:endParaRPr lang="en-IL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59CC6-1964-CE4A-9669-48DDBB470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Nitai Gildor – 318657780</a:t>
            </a:r>
          </a:p>
          <a:p>
            <a:pPr algn="l"/>
            <a:r>
              <a:rPr lang="en-US" sz="2000"/>
              <a:t>Itamar Morag - 316526557</a:t>
            </a:r>
            <a:endParaRPr lang="he-IL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00320-709D-93C3-06D0-57962F798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2" t="-1" r="126" b="53555"/>
          <a:stretch>
            <a:fillRect/>
          </a:stretch>
        </p:blipFill>
        <p:spPr>
          <a:xfrm>
            <a:off x="4501341" y="1908538"/>
            <a:ext cx="7638752" cy="304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5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8BDF3-BC82-F14F-9BBC-68056945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 Descriptions and Principles of Operation</a:t>
            </a:r>
            <a:endParaRPr lang="en-IL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2B27-3E19-C74B-A455-0BE7ECD38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3468" y="153345"/>
            <a:ext cx="7958825" cy="6061633"/>
          </a:xfrm>
        </p:spPr>
        <p:txBody>
          <a:bodyPr anchor="ctr">
            <a:normAutofit/>
          </a:bodyPr>
          <a:lstStyle/>
          <a:p>
            <a:pPr marL="228600" indent="-228600" defTabSz="91440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General idea</a:t>
            </a:r>
            <a:endParaRPr lang="he-IL" sz="2400" dirty="0"/>
          </a:p>
          <a:p>
            <a:pPr lvl="1">
              <a:spcBef>
                <a:spcPts val="1000"/>
              </a:spcBef>
            </a:pPr>
            <a:r>
              <a:rPr lang="en-US" sz="2000" dirty="0"/>
              <a:t>Accelerator that holds 8 “cores”, each core specialized to perform the Waterman-Smith Algorithm simultaneously with a query (same for all cores) and a reference (different per core)</a:t>
            </a:r>
            <a:endParaRPr lang="he-IL" sz="2000" dirty="0"/>
          </a:p>
          <a:p>
            <a:pPr marL="228600" indent="-228600" defTabSz="91440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Hardware acceleration</a:t>
            </a:r>
            <a:endParaRPr lang="he-IL" sz="2400" dirty="0"/>
          </a:p>
          <a:p>
            <a:pPr lvl="1">
              <a:spcBef>
                <a:spcPts val="1000"/>
              </a:spcBef>
            </a:pPr>
            <a:r>
              <a:rPr lang="en-GB" sz="2000" dirty="0"/>
              <a:t>Smith-Waterman modified algorithm: We implemented the algorithm in the hardware, while using only the necessary tiles for each calculation, instead of saving all the tiles.</a:t>
            </a:r>
          </a:p>
          <a:p>
            <a:pPr lvl="1">
              <a:spcBef>
                <a:spcPts val="1000"/>
              </a:spcBef>
            </a:pPr>
            <a:r>
              <a:rPr lang="en-GB" sz="2000" dirty="0"/>
              <a:t>8-Way Parallel Processing: We built 8 independent hardware cores that run at the same time, allowing us to evaluate all 8 reference sequences against the query simultaneously.</a:t>
            </a:r>
          </a:p>
          <a:p>
            <a:pPr lvl="1">
              <a:spcBef>
                <a:spcPts val="1000"/>
              </a:spcBef>
            </a:pPr>
            <a:r>
              <a:rPr lang="en-GB" sz="2000" dirty="0"/>
              <a:t>Dynamic Early Stop: The hardware reads the actual sequence lengths to dynamically shrink the calculation grid (e.g., stopping at 8x8 instead of 16x16), saving cycles and preventing inaccurate alignments.</a:t>
            </a:r>
          </a:p>
          <a:p>
            <a:pPr lvl="1">
              <a:spcBef>
                <a:spcPts val="1000"/>
              </a:spcBef>
            </a:pPr>
            <a:r>
              <a:rPr lang="en-GB" sz="2000" dirty="0"/>
              <a:t>Data Transfer (I/O): We accelerated bus communication by packing 16-letter DNA sequences into single 32-bit writes, and packing the final results into 6-bit scores to minimize read times.</a:t>
            </a:r>
            <a:endParaRPr lang="he-IL" sz="2000" dirty="0"/>
          </a:p>
        </p:txBody>
      </p:sp>
      <p:pic>
        <p:nvPicPr>
          <p:cNvPr id="4" name="Picture 2" descr="The Institute of Applied Physics">
            <a:extLst>
              <a:ext uri="{FF2B5EF4-FFF2-40B4-BE49-F238E27FC236}">
                <a16:creationId xmlns:a16="http://schemas.microsoft.com/office/drawing/2014/main" id="{EAA0CDEE-0595-FB4F-0E55-E55C9D8D8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C0E551-3B06-FB92-7E87-09A9E025F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3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54E9D-7B9C-CDC9-497F-284EB900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5B115-B031-0DA3-E238-982C283C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 Descriptions and Principles of Operation</a:t>
            </a:r>
            <a:endParaRPr lang="en-IL" dirty="0">
              <a:solidFill>
                <a:srgbClr val="FFFFFF"/>
              </a:solidFill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09C1-609F-EE2E-97FA-00C63F05C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638" y="591344"/>
            <a:ext cx="738316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Software computation</a:t>
            </a:r>
            <a:endParaRPr lang="he-IL" dirty="0"/>
          </a:p>
          <a:p>
            <a:pPr lvl="1"/>
            <a:r>
              <a:rPr lang="en-GB" dirty="0"/>
              <a:t>Fast Data Packing: Before sending data to the accelerator, the CPU compresses 16-letter DNA sequences into a single 32-bit chunk using a fast, loop-free </a:t>
            </a:r>
            <a:r>
              <a:rPr lang="en-GB"/>
              <a:t>bitwise trick.</a:t>
            </a:r>
            <a:endParaRPr lang="en-GB" dirty="0"/>
          </a:p>
          <a:p>
            <a:pPr lvl="1"/>
            <a:r>
              <a:rPr lang="en-GB" dirty="0"/>
              <a:t>Fast Data Unpacking: Instead of reading 8 separate score registers over the slow system bus, the CPU reads just 2 packed registers and uses simple bit-shifting to extract all 8 final scores.</a:t>
            </a:r>
          </a:p>
          <a:p>
            <a:pPr lvl="1"/>
            <a:r>
              <a:rPr lang="en-GB" dirty="0"/>
              <a:t>Transfer query and reference lengths using 2 registers to ensure proper calculation for different lengths with minimal write overhead.</a:t>
            </a:r>
          </a:p>
          <a:p>
            <a:pPr lvl="1"/>
            <a:endParaRPr lang="en-GB" dirty="0"/>
          </a:p>
          <a:p>
            <a:pPr lvl="1"/>
            <a:endParaRPr lang="en-IL" dirty="0"/>
          </a:p>
        </p:txBody>
      </p:sp>
      <p:pic>
        <p:nvPicPr>
          <p:cNvPr id="4" name="Picture 2" descr="The Institute of Applied Physics">
            <a:extLst>
              <a:ext uri="{FF2B5EF4-FFF2-40B4-BE49-F238E27FC236}">
                <a16:creationId xmlns:a16="http://schemas.microsoft.com/office/drawing/2014/main" id="{C217418F-5114-7DE6-4DCA-55AB1B1D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2D6C00-6DF9-7FB3-1CEF-52EB1250A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4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38FDD-6527-B74C-A1E5-D43B3808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Microarchitectural and Design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6867D-D8E5-9B7C-6367-DD4AFE36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36" y="1604541"/>
            <a:ext cx="7763212" cy="4638520"/>
          </a:xfrm>
          <a:prstGeom prst="rect">
            <a:avLst/>
          </a:prstGeom>
        </p:spPr>
      </p:pic>
      <p:pic>
        <p:nvPicPr>
          <p:cNvPr id="4" name="Picture 2" descr="The Institute of Applied Physics">
            <a:extLst>
              <a:ext uri="{FF2B5EF4-FFF2-40B4-BE49-F238E27FC236}">
                <a16:creationId xmlns:a16="http://schemas.microsoft.com/office/drawing/2014/main" id="{496DA9EF-8559-6EAF-2D54-FCDBC7F80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552D3-04DA-08D0-C27F-1EA917378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9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ED86D-1605-F816-6F68-A472402D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0A9E7-7556-34D8-2A24-880B2EF6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Microarchitectural and Design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8A50A-0AB8-A56C-FC5D-FEEECCF7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818" y="1558508"/>
            <a:ext cx="6836363" cy="4956363"/>
          </a:xfrm>
          <a:prstGeom prst="rect">
            <a:avLst/>
          </a:prstGeom>
        </p:spPr>
      </p:pic>
      <p:pic>
        <p:nvPicPr>
          <p:cNvPr id="4" name="Picture 2" descr="The Institute of Applied Physics">
            <a:extLst>
              <a:ext uri="{FF2B5EF4-FFF2-40B4-BE49-F238E27FC236}">
                <a16:creationId xmlns:a16="http://schemas.microsoft.com/office/drawing/2014/main" id="{3B6E90AF-4FC3-85ED-3DE8-F644401B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D280F-8DFE-CA01-DB4E-FCB6EEE51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5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7714-333E-F34A-AFE1-F1F7C875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551" y="57195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Results Summary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E74799-C079-8F4B-95DC-BD196EDB9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272655"/>
              </p:ext>
            </p:extLst>
          </p:nvPr>
        </p:nvGraphicFramePr>
        <p:xfrm>
          <a:off x="407949" y="1626908"/>
          <a:ext cx="105156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4207">
                  <a:extLst>
                    <a:ext uri="{9D8B030D-6E8A-4147-A177-3AD203B41FA5}">
                      <a16:colId xmlns:a16="http://schemas.microsoft.com/office/drawing/2014/main" val="1058023440"/>
                    </a:ext>
                  </a:extLst>
                </a:gridCol>
                <a:gridCol w="4181393">
                  <a:extLst>
                    <a:ext uri="{9D8B030D-6E8A-4147-A177-3AD203B41FA5}">
                      <a16:colId xmlns:a16="http://schemas.microsoft.com/office/drawing/2014/main" val="858862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/>
                        <a:t>Metric</a:t>
                      </a:r>
                      <a:endParaRPr lang="en-I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L" sz="20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55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000" dirty="0"/>
                        <a:t>Total latency of the full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en-US" sz="2000" dirty="0"/>
                        <a:t>3469</a:t>
                      </a:r>
                      <a:endParaRPr lang="en-I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369439"/>
                  </a:ext>
                </a:extLst>
              </a:tr>
            </a:tbl>
          </a:graphicData>
        </a:graphic>
      </p:graphicFrame>
      <p:pic>
        <p:nvPicPr>
          <p:cNvPr id="3" name="Picture 2" descr="The Institute of Applied Physics">
            <a:extLst>
              <a:ext uri="{FF2B5EF4-FFF2-40B4-BE49-F238E27FC236}">
                <a16:creationId xmlns:a16="http://schemas.microsoft.com/office/drawing/2014/main" id="{B3962CA1-DE9F-02CA-A206-3A6CD08EC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DAC21E-8E10-C699-2EB4-30F1C981A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D191F2-8EFD-7DE9-88E0-0EA2F40406A5}"/>
              </a:ext>
            </a:extLst>
          </p:cNvPr>
          <p:cNvSpPr txBox="1"/>
          <p:nvPr/>
        </p:nvSpPr>
        <p:spPr>
          <a:xfrm>
            <a:off x="407949" y="3097013"/>
            <a:ext cx="2769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400" dirty="0"/>
              <a:t>Hardware resources: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8889FE-9F64-E198-6CAB-67038D265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49" y="3612749"/>
            <a:ext cx="10869533" cy="221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6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568B19-B773-EDD2-2F29-8E7C590F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 Run Screen Shot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02817-656F-18DC-A460-10787D092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79306"/>
            <a:ext cx="7214616" cy="5471956"/>
          </a:xfrm>
          <a:prstGeom prst="rect">
            <a:avLst/>
          </a:prstGeom>
        </p:spPr>
      </p:pic>
      <p:pic>
        <p:nvPicPr>
          <p:cNvPr id="2" name="Picture 2" descr="The Institute of Applied Physics">
            <a:extLst>
              <a:ext uri="{FF2B5EF4-FFF2-40B4-BE49-F238E27FC236}">
                <a16:creationId xmlns:a16="http://schemas.microsoft.com/office/drawing/2014/main" id="{44CC95C5-3B54-6F87-87F7-A73CA3360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" y="6214978"/>
            <a:ext cx="1875693" cy="59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CDBDAB-BC41-FDAD-047F-63EE3E0A8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850" y="6343534"/>
            <a:ext cx="448548" cy="44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6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301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Final Presentation</vt:lpstr>
      <vt:lpstr>Solution Descriptions and Principles of Operation</vt:lpstr>
      <vt:lpstr>Solution Descriptions and Principles of Operation</vt:lpstr>
      <vt:lpstr>Microarchitectural and Design Solution</vt:lpstr>
      <vt:lpstr>Microarchitectural and Design Solution</vt:lpstr>
      <vt:lpstr>Results Summary</vt:lpstr>
      <vt:lpstr>Output Run Screen 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הצגת מסכמת</dc:title>
  <dc:creator>Freddy Gabbay</dc:creator>
  <cp:lastModifiedBy>Nitai Gildor</cp:lastModifiedBy>
  <cp:revision>21</cp:revision>
  <dcterms:created xsi:type="dcterms:W3CDTF">2022-06-03T14:25:43Z</dcterms:created>
  <dcterms:modified xsi:type="dcterms:W3CDTF">2026-06-22T06:54:18Z</dcterms:modified>
</cp:coreProperties>
</file>